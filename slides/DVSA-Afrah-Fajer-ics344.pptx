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8" r:id="rId11"/>
    <p:sldId id="269" r:id="rId12"/>
    <p:sldId id="270" r:id="rId13"/>
    <p:sldId id="272" r:id="rId14"/>
    <p:sldId id="273" r:id="rId15"/>
    <p:sldId id="274" r:id="rId16"/>
    <p:sldId id="276" r:id="rId17"/>
    <p:sldId id="277" r:id="rId18"/>
    <p:sldId id="311" r:id="rId19"/>
    <p:sldId id="280" r:id="rId20"/>
    <p:sldId id="299" r:id="rId21"/>
    <p:sldId id="300" r:id="rId22"/>
    <p:sldId id="282" r:id="rId23"/>
    <p:sldId id="301" r:id="rId24"/>
    <p:sldId id="302" r:id="rId25"/>
    <p:sldId id="284" r:id="rId26"/>
    <p:sldId id="303" r:id="rId27"/>
    <p:sldId id="304" r:id="rId28"/>
    <p:sldId id="286" r:id="rId29"/>
    <p:sldId id="305" r:id="rId30"/>
    <p:sldId id="306" r:id="rId31"/>
    <p:sldId id="288" r:id="rId32"/>
    <p:sldId id="307" r:id="rId33"/>
    <p:sldId id="308" r:id="rId34"/>
    <p:sldId id="290" r:id="rId35"/>
    <p:sldId id="309" r:id="rId36"/>
    <p:sldId id="310" r:id="rId37"/>
    <p:sldId id="279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84" y="-1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29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2154-B4B1-AF13-BD9E-AC6C4B51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958FC-A6DD-6647-4067-B3BB50CFA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53240-D834-FCCA-AD6F-8203F77AA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99154-31FD-70A0-535B-00E169CC3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37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ICS344  ·  SERVERLESS SECURITY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Damn Vulnerable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Application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vulnerabilities · Ten exploits · Ten fixes on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Fajer Alyami  ·  Afrah Alsubhi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 1  ·  3  ·  5  ·  7  ·  9  (Fajer)     Lessons  2  ·  4  ·  6  ·  8  ·  10  ·  11  (Afrah)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DVSA  ·  AWS Lambda  ·  us-east-1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at a glance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DVSA is, how we worked it, and all ten vulnerabilities covered across both presentations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" cy="4114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TARGET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DVSA on AWS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Serverless Application — an intentionally insecure AWS deployment used to learn real cloud-native attacks and defenses.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· API Gateway · DynamoDB · S3 · IAM · Cognito · CloudWatch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· CloudShell · CloudWatch Logs · IAM Policy Simulator · PowerShell · npm audit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210312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94960" y="210312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21031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215798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Injection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487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via untrusted deserialization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292608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94960" y="292608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29260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29809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 Disclosure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3101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leaked through unauth Lambda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374904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94960" y="374904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0" y="37490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09360" y="380390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413308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Non-admin altering admin orders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457200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94960" y="457200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0" y="45720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09360" y="462686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IAM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49560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S3 / DynamoDB on Lambda role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539496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94960" y="539496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94960" y="53949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309360" y="544982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Dependencies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57790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node-serialize RCE, no patch available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Serverless Security  |  ICS344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Injection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via node-serialize on the public /order endpoint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·  EXPLOIT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Sending the malicious payload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serialize.unserialize() runs on raw event.body — any _$$ND_FUNC$$_ payload executes as JavaScript inside the Lambda. Affects DVSA-ORDER-MANAGER, full Lambda takeover (filesystem, env vars, IAM role).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51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vulnerable code: serialize.unserialize(event.body) at the top of the Lambda handler.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JSON body where action is _$$ND_FUNC$$_function(){ … }() — an IIFE that writes /tmp/pwned.txt and logs FILE READ SUCCESS.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4805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payload to the API endpoint via PowerShell. HTTP returns 'Internal server error' — that is expected, the injected code already ran.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4406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394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CloudWatch: the FILE READ SUCCESS: TEST WORKED line is the proof of arbitrary code execution.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— payload sent to /order endpoint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lessons/lesson-01-event-injection-vulnerable-dep/screenshots/02-before-fix-powershell-explo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99028"/>
            <a:ext cx="6858000" cy="133990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63440" y="4343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— FILE READ SUCCESS proves the injected JS executed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61772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/home/claude/lessons/lesson-01-event-injection-vulnerable-dep/screenshots/03-before-fix-cloudwatch-rce-pro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5186360"/>
            <a:ext cx="6858000" cy="645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·  FIX &amp; 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deserialization with safe JSON parsing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input as data only — never let a parser evaluate user content.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6235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VULNERABLE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serialize.unserialize() executed JS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lessons/lesson-01-event-injection-vulnerable-dep/screenshots/01-vulnerable-code-serialize-unserial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988030"/>
            <a:ext cx="5029200" cy="54891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handler: serialize.unserialize() on event.body and event.headers, both attacker-controlled.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623560" cy="73152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FIXED &amp; VERIFIED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JSON.parse() — data only, no eval path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/home/claude/lessons/lesson-01-event-injection-vulnerable-dep/screenshots/06-after-fix-cloudwatch-type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536940"/>
            <a:ext cx="5029200" cy="12254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payload now fails at the auth-header step (TypeError). FILE READ SUCCESS no longer appears in logs.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6446520"/>
            <a:ext cx="164592" cy="292608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13232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</a:t>
            </a: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serialize.unserialize() for JSON.parse(); add a typeof guard for headers. node-serialize has no patch — JSON.parse() has no codepath that evaluates strings as JS.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5030C7-33F0-013D-63A9-70D69D9EA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301" y="3389122"/>
            <a:ext cx="4356735" cy="683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Sensitive Information Disclosure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archive leaked through an unauthenticated Lambda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 ·  EXPLOIT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Pulling April 2026 receipts unauthenticated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DVSA-ADMIN-GET-RECEIPT returns a pre-signed S3 URL with no caller authorization check — any user can download every receipt in the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51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Lambda Test tab and paste a minimal event:  { "year": "2026", "month": "04" }.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Test. The vulnerable build returns status: ok plus a long pre-signed S3 URL containing AWSAccessKeyId and Signature.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4805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download_url into a browser — the ZIP 2026-04-dvsa-order-receipts.zip downloads with every receipt for the month.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4406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394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header was ever sent. No JWT. No identity at all.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response — pre-signed URL returned to an unauthenticated caller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lessons/lesson-03-sensitive-info-disclosure/screenshots/03-before-fix-signed-url-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48536"/>
            <a:ext cx="6858000" cy="144088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63440" y="4343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download — every April 2026 receipt walked out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61772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/home/claude/lessons/lesson-03-sensitive-info-disclosure/screenshots/04-before-fix-zip-downloa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847" y="4709160"/>
            <a:ext cx="5350066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 ·  FIX &amp; 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an admin check before any S3 access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identity at the function entry — not after side effects begin.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6235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VULNERABLE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Handler jumped straight into S3 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lessons/lesson-03-sensitive-info-disclosure/screenshots/06-vulnerable-code-no-auth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120" y="3172968"/>
            <a:ext cx="3806575" cy="2606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lambda_handler — built the S3 client and listed receipts with no caller check at all.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623560" cy="73152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FIXED &amp; VERIFIED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Unauthorized — Admin access required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/home/claude/lessons/lesson-03-sensitive-info-disclosure/screenshots/05-after-fix-unauthorized-respo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702265"/>
            <a:ext cx="5029200" cy="154744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{year, month} test event now returns an error — no signed URL, no S3 listing, no ZIP built.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6446520"/>
            <a:ext cx="164592" cy="292608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13232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</a:t>
            </a: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isAdmin gate as the very first line of the handler. The full hardening reads identity from the verified JWT (Cognito group claim), not a client-supplied flag.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Access Control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Non-admin users flipping order status from processed to paid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·  EXPLOIT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Marking a $25 order paid with a non-admin token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DVSA-ADMIN-UPDATE-ORDERS decodes the JWT but never checks the scope claim — any logged-in user is treated as admin and can flip order status.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51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regular user, log into DVSA and copy an order ID with status processed (test order: $25).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AWS Console, open DVSA-ADMIN-UPDATE-ORDERS → Test, paste an event targeting that order with the non-admin user's JWT in the headers.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4805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Test. Vulnerable build responds: { status: ok, msg: 'order updated' }.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4406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394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My Orders in DVSA — status has flipped from processed to paid without a payment ever happening.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response — admin Lambda accepted the non-admin token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lessons/dvsa-lessons/lesson-05-broken-access-control/screenshots/03-lambda-test-success-order-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449" y="2468880"/>
            <a:ext cx="6060861" cy="1600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63440" y="4343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UI — order now shows paid; no payment flow ran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61772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/home/claude/lessons/dvsa-lessons/lesson-05-broken-access-control/screenshots/04-order-status-changed-to-pa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5392260"/>
            <a:ext cx="6858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·  FIX &amp; 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Server-side scope check at the handler entry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token signature, but verify what's inside it before granting admin actions.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6235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VULNERABLE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Vulnerable: token presence trusted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lessons/dvsa-lessons/lesson-05-broken-access-control/screenshots/02-malicious-test-event-non-admin-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32744"/>
            <a:ext cx="5029200" cy="2286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event — a regular user's JWT, no admin claim, action: update on someone else's order.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623560" cy="73152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FIXED &amp; VERIFIED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Unauthorized. Admin access required.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/home/claude/lessons/dvsa-lessons/lesson-05-broken-access-control/screenshots/07-after-fix-unauthorized-respo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736400"/>
            <a:ext cx="5029200" cy="14791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 after fix — admin Lambda rejects the call; order status in the UI stays processed.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6446520"/>
            <a:ext cx="164592" cy="292608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13232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</a:t>
            </a: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the JWT, read scope, and reject if 'admin' is not present. JWT signatures are signed by Cognito, so a regular user can't forge an admin scope without breaking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Over-Privileged IAM Role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email-sending Lambda with full S3 + DynamoDB wildcards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975104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·  AUDIT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Confirming over-privilege with the Policy Simulator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execution role has wildcard s3:::* and dynamodb:table/* plus AmazonSESFullAccess — far more than the function (only sends SES email) actually needs.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51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role's permissions in IAM Console — two inline policies with Resource: * for S3 and DynamoDB.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IAM Policy Simulator against the role for s3:GetObject, s3:PutObject — both allowed.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4805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dynamodb:GetItem / PutItem / DeleteItem / Scan — all allowed.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4406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394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Last Accessed / CloudTrail Access Advisor: only logs, KMS, STS, and SES were ever actually used.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Simulator — S3 GetObject and PutObject both allowed for the role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lessons/dvsa-lessons/lesson-07-overprivileged-iam/screenshots/03-policy-simulator-s3-allow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68880"/>
            <a:ext cx="3191870" cy="1600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63440" y="4343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'actions actually used' — only SES (and runtime services) ever called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61772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/home/claude/lessons/dvsa-lessons/lesson-07-overprivileged-iam/screenshots/05-cloudtrail-actions-actually-u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800" y="4709160"/>
            <a:ext cx="4836160" cy="1600200"/>
          </a:xfrm>
          <a:prstGeom prst="rect">
            <a:avLst/>
          </a:prstGeom>
        </p:spPr>
      </p:pic>
      <p:pic>
        <p:nvPicPr>
          <p:cNvPr id="27" name="drawing">
            <a:extLst>
              <a:ext uri="{FF2B5EF4-FFF2-40B4-BE49-F238E27FC236}">
                <a16:creationId xmlns:a16="http://schemas.microsoft.com/office/drawing/2014/main" id="{88EBE336-1A57-A23B-08DB-B4929B9F51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020" y="2521537"/>
            <a:ext cx="3343910" cy="14465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·  FIX &amp; 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 the role to the minimum (least privilege)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Configuration-only fix — no Lambda code changes needed.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6235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VULNERABLE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Wildcard inline policy on S3 and DynamoDB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lessons/dvsa-lessons/lesson-07-overprivileged-iam/screenshots/01-iam-policy-s3-wild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" y="3243056"/>
            <a:ext cx="2709851" cy="24160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S3 policy — Resource: arn:aws:s3:::* / arn:aws:s3:::*/*  on every CRUD action.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623560" cy="73152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FIXED &amp; VERIFIED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/ DynamoDB now denied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/home/claude/lessons/dvsa-lessons/lesson-07-overprivileged-iam/screenshots/14-policy-simulator-after-fix-deni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335517"/>
            <a:ext cx="5029200" cy="22809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simulator run after fix — only the two SES actions are allowed; everything else implicitly denied.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6446520"/>
            <a:ext cx="164592" cy="292608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13232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</a:t>
            </a: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AmazonSESFullAccess + the two wildcard inline policies. Attach SendReceiptMinimalSES — ses:SendEmail and ses:SendRawEmail only. Verified by Policy Simulator + AccessDenied in CloudWatch.</a:t>
            </a:r>
            <a:endParaRPr lang="en-US" sz="1200" dirty="0"/>
          </a:p>
        </p:txBody>
      </p:sp>
      <p:pic>
        <p:nvPicPr>
          <p:cNvPr id="22" name="drawing">
            <a:extLst>
              <a:ext uri="{FF2B5EF4-FFF2-40B4-BE49-F238E27FC236}">
                <a16:creationId xmlns:a16="http://schemas.microsoft.com/office/drawing/2014/main" id="{DE277C7D-83A2-443E-D81F-725BE17966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5651" y="3243056"/>
            <a:ext cx="2414783" cy="24160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Vulnerable Dependencies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node-serialize — critical RCE, no patch available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·  EXPLOIT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npm audit warning to live RCE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node-serialize (critical, no patch) is a direct dependency that evaluates _$$ND_FUNC$$_ markers as JavaScript — one bad import = full RCE on every /order request.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51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audit in the order-manager folder — node-serialize flagged critical, 'no fix available'.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package.json — node-serialize is a direct dependency, imported on line 1 of order-manager.js.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4805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malicious POST body containing _$$ND_FUNC$$_function(){…}() — the IIFE writes a file and logs FILE READ SUCCESS.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44068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394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CloudWatch — the line FILE READ SUCCESS: You are reading the contents of my hacked file! confirms code execution.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— node-serialize: critical severity, no patch available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lessons/dvsa-lessons/lesson-09-vulnerable-dependencies/screenshots/01-npm-audit-node-serialize-cri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91" y="2468880"/>
            <a:ext cx="2891779" cy="1600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63440" y="4343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kern="0" spc="1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— FILE READ SUCCESS line, proof of arbitrary execution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617720"/>
            <a:ext cx="7040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/home/claude/lessons/dvsa-lessons/lesson-09-vulnerable-dependencies/screenshots/05-cloudwatch-file-read-success-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5180549"/>
            <a:ext cx="6858000" cy="6574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·  FIX &amp; 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the dependency entirely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JSON.parse() does the same job without an eval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6235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VULNERABLE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package.json carried the vulnerable lib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lessons/dvsa-lessons/lesson-09-vulnerable-dependencies/screenshots/02-package-json-vulnerable-depend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28137"/>
            <a:ext cx="5029200" cy="155242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node-serialize listed under dependencies — and called on every /order request.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103120"/>
            <a:ext cx="5623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623560" cy="73152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2267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FIXED &amp; VERIFIED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2560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SyntaxError before any logic runs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3108960"/>
            <a:ext cx="5166360" cy="2743200"/>
          </a:xfrm>
          <a:prstGeom prst="rect">
            <a:avLst/>
          </a:prstGeom>
          <a:solidFill>
            <a:srgbClr val="F1F2F7"/>
          </a:solidFill>
          <a:ln w="9525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/home/claude/lessons/dvsa-lessons/lesson-09-vulnerable-dependencies/screenshots/07-cloudwatch-syntaxerror-after-f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4372657"/>
            <a:ext cx="5029200" cy="12933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5943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after fix — JSON.parse rejects the payload as invalid JSON. FILE READ SUCCESS never appears.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6446520"/>
            <a:ext cx="164592" cy="292608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13232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</a:t>
            </a: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require('node-serialize') import, swap to JSON.parse(), and run npm uninstall node-serialize. Audit deps regularly with npm audit + GitHub Dependabot.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D725AF-89E1-409F-5566-A49791ED0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073" y="3302047"/>
            <a:ext cx="4356735" cy="6832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C8D58B5-F959-66BE-A2E0-E6C0C638A6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62" y="4603215"/>
            <a:ext cx="4785891" cy="11080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49BF5-86AE-CA52-E3E9-3FB943D3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6C023C-B0F0-17F0-E6C1-8F712CF5219F}"/>
              </a:ext>
            </a:extLst>
          </p:cNvPr>
          <p:cNvSpPr/>
          <p:nvPr/>
        </p:nvSpPr>
        <p:spPr>
          <a:xfrm>
            <a:off x="457200" y="365760"/>
            <a:ext cx="109728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44810B-2B06-36C4-579B-76B3AD4FF3AF}"/>
              </a:ext>
            </a:extLst>
          </p:cNvPr>
          <p:cNvSpPr/>
          <p:nvPr/>
        </p:nvSpPr>
        <p:spPr>
          <a:xfrm>
            <a:off x="457200" y="365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3F881C-1960-3F09-43D5-E03DD0F7E4A8}"/>
              </a:ext>
            </a:extLst>
          </p:cNvPr>
          <p:cNvSpPr/>
          <p:nvPr/>
        </p:nvSpPr>
        <p:spPr>
          <a:xfrm>
            <a:off x="457200" y="74980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at a glance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B2EBB1-7E32-3635-5840-01C723522F33}"/>
              </a:ext>
            </a:extLst>
          </p:cNvPr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DVSA is, how we worked it, and all ten vulnerabilities covered across both presentations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3B3F26E-7E85-5DF0-1B8E-807D1D51E090}"/>
              </a:ext>
            </a:extLst>
          </p:cNvPr>
          <p:cNvSpPr/>
          <p:nvPr/>
        </p:nvSpPr>
        <p:spPr>
          <a:xfrm>
            <a:off x="457200" y="2103120"/>
            <a:ext cx="4572000" cy="404723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416202-DFB4-8296-9BF3-A0419C9B6C0F}"/>
              </a:ext>
            </a:extLst>
          </p:cNvPr>
          <p:cNvSpPr/>
          <p:nvPr/>
        </p:nvSpPr>
        <p:spPr>
          <a:xfrm>
            <a:off x="457200" y="2103120"/>
            <a:ext cx="73152" cy="4114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DDDA41-EB8F-82FE-5EC8-FEF8AD2B8C8B}"/>
              </a:ext>
            </a:extLst>
          </p:cNvPr>
          <p:cNvSpPr/>
          <p:nvPr/>
        </p:nvSpPr>
        <p:spPr>
          <a:xfrm>
            <a:off x="68580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TARGET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89DCCB-58B4-3C97-E36F-FA05558EC50A}"/>
              </a:ext>
            </a:extLst>
          </p:cNvPr>
          <p:cNvSpPr/>
          <p:nvPr/>
        </p:nvSpPr>
        <p:spPr>
          <a:xfrm>
            <a:off x="685800" y="2514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DVSA on AWS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D7E0B31-B43E-34BB-119E-6CE162B43ED9}"/>
              </a:ext>
            </a:extLst>
          </p:cNvPr>
          <p:cNvSpPr/>
          <p:nvPr/>
        </p:nvSpPr>
        <p:spPr>
          <a:xfrm>
            <a:off x="685800" y="30175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Serverless Application — an intentionally insecure AWS deployment used to learn real cloud-native attacks and defenses.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· API Gateway · DynamoDB · S3 · IAM · Cognito · CloudWatch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· CloudShell · CloudWatch Logs · IAM Policy Simulator · PowerShell – Git Bash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8D332D1-2296-F32C-3996-8C88ACE510D4}"/>
              </a:ext>
            </a:extLst>
          </p:cNvPr>
          <p:cNvSpPr/>
          <p:nvPr/>
        </p:nvSpPr>
        <p:spPr>
          <a:xfrm>
            <a:off x="5394960" y="210312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C07212-53E5-E8BD-7CAC-E18558980819}"/>
              </a:ext>
            </a:extLst>
          </p:cNvPr>
          <p:cNvSpPr/>
          <p:nvPr/>
        </p:nvSpPr>
        <p:spPr>
          <a:xfrm>
            <a:off x="5394960" y="210312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66D85F-DB44-4376-C0F0-F5F27BB24244}"/>
              </a:ext>
            </a:extLst>
          </p:cNvPr>
          <p:cNvSpPr/>
          <p:nvPr/>
        </p:nvSpPr>
        <p:spPr>
          <a:xfrm>
            <a:off x="5394960" y="21031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F2B3FA6-6C70-9CA3-89C2-C5B50A4C82AE}"/>
              </a:ext>
            </a:extLst>
          </p:cNvPr>
          <p:cNvSpPr/>
          <p:nvPr/>
        </p:nvSpPr>
        <p:spPr>
          <a:xfrm>
            <a:off x="6309360" y="215798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8BEF671-D672-002A-A596-49B41FF9A12E}"/>
              </a:ext>
            </a:extLst>
          </p:cNvPr>
          <p:cNvSpPr/>
          <p:nvPr/>
        </p:nvSpPr>
        <p:spPr>
          <a:xfrm>
            <a:off x="6309360" y="2487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D370F0F-78CA-2759-F949-8F74CC351351}"/>
              </a:ext>
            </a:extLst>
          </p:cNvPr>
          <p:cNvSpPr/>
          <p:nvPr/>
        </p:nvSpPr>
        <p:spPr>
          <a:xfrm>
            <a:off x="5394960" y="292608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73315D2-50AA-06A5-C1E0-F47D9DE2F48D}"/>
              </a:ext>
            </a:extLst>
          </p:cNvPr>
          <p:cNvSpPr/>
          <p:nvPr/>
        </p:nvSpPr>
        <p:spPr>
          <a:xfrm>
            <a:off x="5394960" y="292608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E67772C-0A3E-3159-9564-DFDE92DFE729}"/>
              </a:ext>
            </a:extLst>
          </p:cNvPr>
          <p:cNvSpPr/>
          <p:nvPr/>
        </p:nvSpPr>
        <p:spPr>
          <a:xfrm>
            <a:off x="5394960" y="29260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F291EA-5683-CF0B-F42F-ED9B3CA6AD2D}"/>
              </a:ext>
            </a:extLst>
          </p:cNvPr>
          <p:cNvSpPr/>
          <p:nvPr/>
        </p:nvSpPr>
        <p:spPr>
          <a:xfrm>
            <a:off x="6309360" y="29809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INSECURE CLOUD CONFIGURATION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11B5F7C-B7CA-BF42-DF19-843D522B06C7}"/>
              </a:ext>
            </a:extLst>
          </p:cNvPr>
          <p:cNvSpPr/>
          <p:nvPr/>
        </p:nvSpPr>
        <p:spPr>
          <a:xfrm>
            <a:off x="6309360" y="33101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488012E-2613-D45D-A83B-C50F07839DBE}"/>
              </a:ext>
            </a:extLst>
          </p:cNvPr>
          <p:cNvSpPr/>
          <p:nvPr/>
        </p:nvSpPr>
        <p:spPr>
          <a:xfrm>
            <a:off x="5394960" y="374904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07C20AE-CAD6-C046-39A2-F40F1DE7B995}"/>
              </a:ext>
            </a:extLst>
          </p:cNvPr>
          <p:cNvSpPr/>
          <p:nvPr/>
        </p:nvSpPr>
        <p:spPr>
          <a:xfrm>
            <a:off x="5394960" y="374904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C3EE0EE-63C7-99E2-E3E1-8AE86C1E3921}"/>
              </a:ext>
            </a:extLst>
          </p:cNvPr>
          <p:cNvSpPr/>
          <p:nvPr/>
        </p:nvSpPr>
        <p:spPr>
          <a:xfrm>
            <a:off x="5394960" y="37490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5F7B027-72FC-8A16-BFF1-78D4484D917E}"/>
              </a:ext>
            </a:extLst>
          </p:cNvPr>
          <p:cNvSpPr/>
          <p:nvPr/>
        </p:nvSpPr>
        <p:spPr>
          <a:xfrm>
            <a:off x="6309360" y="380390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BD7DEBC-4953-6260-10D5-D1D9C8E42B5D}"/>
              </a:ext>
            </a:extLst>
          </p:cNvPr>
          <p:cNvSpPr/>
          <p:nvPr/>
        </p:nvSpPr>
        <p:spPr>
          <a:xfrm>
            <a:off x="6309360" y="413308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056F872-C6D8-1B51-5460-0459E12E85A2}"/>
              </a:ext>
            </a:extLst>
          </p:cNvPr>
          <p:cNvSpPr/>
          <p:nvPr/>
        </p:nvSpPr>
        <p:spPr>
          <a:xfrm>
            <a:off x="5394960" y="4572000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1C6E2CE-5FA9-CE8C-2608-E51E52B20628}"/>
              </a:ext>
            </a:extLst>
          </p:cNvPr>
          <p:cNvSpPr/>
          <p:nvPr/>
        </p:nvSpPr>
        <p:spPr>
          <a:xfrm>
            <a:off x="5394960" y="457200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C218200-6DBE-55C2-7900-D64BBF7008E0}"/>
              </a:ext>
            </a:extLst>
          </p:cNvPr>
          <p:cNvSpPr/>
          <p:nvPr/>
        </p:nvSpPr>
        <p:spPr>
          <a:xfrm>
            <a:off x="5394960" y="45720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FA55D9A-5A60-029A-102B-81574B81A6B7}"/>
              </a:ext>
            </a:extLst>
          </p:cNvPr>
          <p:cNvSpPr/>
          <p:nvPr/>
        </p:nvSpPr>
        <p:spPr>
          <a:xfrm>
            <a:off x="6309360" y="462686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LOGIC VULNERABILITY</a:t>
            </a:r>
            <a:endParaRPr lang="en-US" sz="14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3D1639E-8A30-2FB8-55C8-ACE1903E7938}"/>
              </a:ext>
            </a:extLst>
          </p:cNvPr>
          <p:cNvSpPr/>
          <p:nvPr/>
        </p:nvSpPr>
        <p:spPr>
          <a:xfrm>
            <a:off x="6309360" y="49560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D4E9E77-F0F1-7AD2-5042-DEA602E0C034}"/>
              </a:ext>
            </a:extLst>
          </p:cNvPr>
          <p:cNvSpPr/>
          <p:nvPr/>
        </p:nvSpPr>
        <p:spPr>
          <a:xfrm>
            <a:off x="5425440" y="5376672"/>
            <a:ext cx="6309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1418AF4-B82A-0B5F-6DC0-5EDAF99583E7}"/>
              </a:ext>
            </a:extLst>
          </p:cNvPr>
          <p:cNvSpPr/>
          <p:nvPr/>
        </p:nvSpPr>
        <p:spPr>
          <a:xfrm>
            <a:off x="5394960" y="5394960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A10CC88-C9C1-350F-A30B-73DA5C7B11FE}"/>
              </a:ext>
            </a:extLst>
          </p:cNvPr>
          <p:cNvSpPr/>
          <p:nvPr/>
        </p:nvSpPr>
        <p:spPr>
          <a:xfrm>
            <a:off x="5394960" y="53949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377F193-F989-265A-9284-3F0B1766384B}"/>
              </a:ext>
            </a:extLst>
          </p:cNvPr>
          <p:cNvSpPr/>
          <p:nvPr/>
        </p:nvSpPr>
        <p:spPr>
          <a:xfrm>
            <a:off x="6114288" y="542442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</a:t>
            </a:r>
            <a:endParaRPr lang="en-US" sz="14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63138A7-B11A-CCBB-5698-4C20C789D610}"/>
              </a:ext>
            </a:extLst>
          </p:cNvPr>
          <p:cNvSpPr/>
          <p:nvPr/>
        </p:nvSpPr>
        <p:spPr>
          <a:xfrm>
            <a:off x="6309360" y="57790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AC5CFE0-09B9-3705-4B8B-9C45FC55F11A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Serverless Security  |  ICS344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F9DD67C-07D4-C7CD-FC3D-5F275D2413D5}"/>
              </a:ext>
            </a:extLst>
          </p:cNvPr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8E7CD228-BFDD-2B1E-3E0E-8166495299F2}"/>
              </a:ext>
            </a:extLst>
          </p:cNvPr>
          <p:cNvSpPr/>
          <p:nvPr/>
        </p:nvSpPr>
        <p:spPr>
          <a:xfrm>
            <a:off x="444811" y="5504688"/>
            <a:ext cx="777240" cy="7132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48FD8D0B-5EB7-DEA8-D4BB-4A928C180055}"/>
              </a:ext>
            </a:extLst>
          </p:cNvPr>
          <p:cNvSpPr/>
          <p:nvPr/>
        </p:nvSpPr>
        <p:spPr>
          <a:xfrm>
            <a:off x="1222051" y="5504688"/>
            <a:ext cx="4038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6"/>
            </a:solidFill>
            <a:prstDash val="solid"/>
          </a:ln>
        </p:spPr>
        <p:txBody>
          <a:bodyPr/>
          <a:lstStyle/>
          <a:p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/ IDOR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38181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Authentication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signature bypass — attacker forges any user identity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02  ·  EXPLOIT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Forging a JWT to impersonate another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DVSA-ORDER-MANAGER decodes the JWT payload but never verifies the Cognito signature — payload claims (username, sub) can be edited and the forged token is accepted.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572768"/>
            <a:ext cx="40690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572768"/>
            <a:ext cx="4069080" cy="502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4068" y="1682496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2736"/>
                </a:solidFill>
                <a:latin typeface="Calibri"/>
              </a:rPr>
              <a:t>EXPLOITATION STEPS</a:t>
            </a:r>
          </a:p>
        </p:txBody>
      </p:sp>
      <p:sp>
        <p:nvSpPr>
          <p:cNvPr id="9" name="Oval 8"/>
          <p:cNvSpPr/>
          <p:nvPr/>
        </p:nvSpPr>
        <p:spPr>
          <a:xfrm>
            <a:off x="507492" y="1993392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" y="1993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" y="201168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Log in as User B and User C. Capture both JWTs from browser DevTools → Network tab → Authorization header.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" y="2980944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" y="29809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" y="2999232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Run a Python script to base64-decode each JWT payload and extract the username and sub fields for both users.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" y="3968496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" y="39684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" y="3986784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Replace the username and sub values inside User B's token payload with User C's identity. Re-encode to base64.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" y="4956048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" y="49560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" y="4974336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Send a GET /order request using the forged token. The API returns User C's full order list — exploit confirmed.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72768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Python script — decoding TOKEN_B and TOKEN_C identity fields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1810512"/>
            <a:ext cx="7269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02_before_exploit.png"/>
          <p:cNvPicPr>
            <a:picLocks noChangeAspect="1"/>
          </p:cNvPicPr>
          <p:nvPr/>
        </p:nvPicPr>
        <p:blipFill>
          <a:blip r:embed="rId2"/>
          <a:srcRect l="16635" t="15418" b="27460"/>
          <a:stretch>
            <a:fillRect/>
          </a:stretch>
        </p:blipFill>
        <p:spPr>
          <a:xfrm>
            <a:off x="4581145" y="2011680"/>
            <a:ext cx="6801230" cy="19019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26280" y="4005072"/>
            <a:ext cx="7269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Both tokens expose username &amp; sub in plain base64. No signature check stops an attacker from swapping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79392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Forged token → API returns victim's order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517136"/>
            <a:ext cx="726948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3"/>
          <a:srcRect l="4530" t="27983" r="5007"/>
          <a:stretch>
            <a:fillRect/>
          </a:stretch>
        </p:blipFill>
        <p:spPr>
          <a:xfrm>
            <a:off x="4743259" y="4764024"/>
            <a:ext cx="6477001" cy="14653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02  ·  FIX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Enforce JWT signature verification before trusting any identity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463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Introduce verifyCognitoJwt — validate iss, exp, token_use with AWS Cognito public keys before extracting user identity.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801368"/>
            <a:ext cx="5687568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492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3946"/>
                </a:solidFill>
                <a:latin typeface="Calibri"/>
              </a:rPr>
              <a:t>BEFORE  ·  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serialize.unserialize() decoded payload trusted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02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2624328"/>
            <a:ext cx="5431536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Vulnerable: backend decoded the JWT and used username/sub directly without verifying the signature.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1908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1908" y="1801368"/>
            <a:ext cx="5687568" cy="64008"/>
          </a:xfrm>
          <a:prstGeom prst="rect">
            <a:avLst/>
          </a:prstGeom>
          <a:solidFill>
            <a:srgbClr val="008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5A"/>
                </a:solidFill>
                <a:latin typeface="Calibri"/>
              </a:rPr>
              <a:t>AFTER  ·  FIXED &amp;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verifyCognitoJwt() — signature verified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02_after_f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4" y="2624328"/>
            <a:ext cx="5431536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1636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After fix: forged token rejected with {"status":"err","msg":"invalid token"}. Exploit no longer works.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440"/>
                </a:solidFill>
                <a:latin typeface="Calibri"/>
              </a:rPr>
              <a:t>FIX  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63550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440"/>
                </a:solidFill>
                <a:latin typeface="Calibri"/>
              </a:rPr>
              <a:t>Add verifyCognitoJwt(token) using AWS Cognito JWKS. Validate iss, exp, token_use. Extract user identity only after verification passes. Add .catch() → 401.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Insecure Cloud Configuration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S3 write triggers unauthorized Lambda execution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04  ·  EXPLOIT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Anonymous S3 upload triggers backend Lambda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S3 receipts bucket has Block Public Access OFF and is wired to a Lambda trigger — anyone can upload to the bucket and execute backend code without authentication.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572768"/>
            <a:ext cx="40690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572768"/>
            <a:ext cx="4069080" cy="502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4068" y="1682496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2736"/>
                </a:solidFill>
                <a:latin typeface="Calibri"/>
              </a:rPr>
              <a:t>EXPLOITATION STEPS</a:t>
            </a:r>
          </a:p>
        </p:txBody>
      </p:sp>
      <p:sp>
        <p:nvSpPr>
          <p:cNvPr id="9" name="Oval 8"/>
          <p:cNvSpPr/>
          <p:nvPr/>
        </p:nvSpPr>
        <p:spPr>
          <a:xfrm>
            <a:off x="507492" y="1993392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" y="1993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" y="201168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Open the S3 console → dvsa-receipts-bucket → Permissions. Confirm 'Block all public access' shows ⚠ Off.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" y="2980944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" y="29809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" y="2999232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Open AWS CloudShell. Create a test payload file: echo 'test' &gt; /tmp/payload.txt.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" y="3968496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" y="39684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" y="3986784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Upload with public ACL: aws s3 cp /tmp/payload.txt s3://dvsa-receipts-bucket-…/attacker/payload.txt --acl public-read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" y="4956048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" y="49560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" y="4974336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Verify the attacker/ folder appears in bucket objects. CloudWatch logs confirm DVSA-SEND-RECEIPT-EMAIL fired automatically.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72768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S3 console — Block all public access: OFF · CloudShell upload succeeds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1810512"/>
            <a:ext cx="7269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04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847088"/>
            <a:ext cx="7159752" cy="20756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26280" y="4005072"/>
            <a:ext cx="7269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Console shows the warning flag. The aws s3 cp command completes without error — no auth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79392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S3 objects — attacker/ folder created by unauthenticated upload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517136"/>
            <a:ext cx="726948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4553712"/>
            <a:ext cx="7159752" cy="18013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04  ·  FIX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Re-enable Block All Public Access on the receipts bucket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463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Enable all four Block Public Access options in S3 bucket permissions. No code change needed — configuration hardening alone closes the gap.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801368"/>
            <a:ext cx="5687568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492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3946"/>
                </a:solidFill>
                <a:latin typeface="Calibri"/>
              </a:rPr>
              <a:t>BEFORE  ·  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Block all public access: 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04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2624328"/>
            <a:ext cx="5431536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S3 bucket allowed public PutObject. Any user could upload files and trigger the Lambda without authentication.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1908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1908" y="1801368"/>
            <a:ext cx="5687568" cy="64008"/>
          </a:xfrm>
          <a:prstGeom prst="rect">
            <a:avLst/>
          </a:prstGeom>
          <a:solidFill>
            <a:srgbClr val="008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5A"/>
                </a:solidFill>
                <a:latin typeface="Calibri"/>
              </a:rPr>
              <a:t>AFTER  ·  FIXED &amp;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Block all public access: ON — upload denied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04_after_f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4" y="2624328"/>
            <a:ext cx="5431536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1636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After fix: re-running the upload command returns AccessDenied. Lambda is no longer triggered by untrusted uploads.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440"/>
                </a:solidFill>
                <a:latin typeface="Calibri"/>
              </a:rPr>
              <a:t>FIX  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63550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440"/>
                </a:solidFill>
                <a:latin typeface="Calibri"/>
              </a:rPr>
              <a:t>S3 → Permissions → Edit Block Public Access → enable all four options. Restrict write to Lambda execution role only via bucket policy.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Denial of Service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the billing endpoint with no rate limiting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06  ·  EXPLOIT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Flooding the billing endpoint with 50 concurrent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API Gateway stage uses default 10,000 req/sec rate with no per-user throttling — billing endpoint can be flooded, crashing the Lambda for everyone.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572768"/>
            <a:ext cx="40690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572768"/>
            <a:ext cx="4069080" cy="502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4068" y="1682496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2736"/>
                </a:solidFill>
                <a:latin typeface="Calibri"/>
              </a:rPr>
              <a:t>EXPLOITATION STEPS</a:t>
            </a:r>
          </a:p>
        </p:txBody>
      </p:sp>
      <p:sp>
        <p:nvSpPr>
          <p:cNvPr id="9" name="Oval 8"/>
          <p:cNvSpPr/>
          <p:nvPr/>
        </p:nvSpPr>
        <p:spPr>
          <a:xfrm>
            <a:off x="507492" y="1993392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" y="1993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" y="201168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Log into DVSA, add an item to cart, proceed to checkout. Copy the order-id and JWT from DevTools Network tab.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" y="2980944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" y="29809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" y="2999232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Create attack.py: spawn 50 threads each sending POST /dvsa/order with action:billing and a valid credit card body.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" y="3968496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" y="39684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" y="3986784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Run: python attack.py. Observe the terminal output — responses mix 500 Internal Server Error and 502 Bad Gateway.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" y="4956048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" y="49560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" y="4974336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Check API Gateway console: Rate was 10,000 req/sec with no burst protection — no defense against flooding.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72768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Terminal — 50 threads crash the billing Lambda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1810512"/>
            <a:ext cx="7269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06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847088"/>
            <a:ext cx="7159752" cy="20756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26280" y="4005072"/>
            <a:ext cx="7269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Responses: 500 Internal Server Error + 502 Bad Gateway. Lambda duration reached 8,483 ms before crashing.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79392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Attack complete — service unavailable to legitimate users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06  ·  FIX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1743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Enable API Gateway throttling at the stage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463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Set Rate: 10 req/sec and Burst: 20 on the dvsa stage. API Gateway now returns 429 before the Lambda is invoked.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801368"/>
            <a:ext cx="5687568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492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3946"/>
                </a:solidFill>
                <a:latin typeface="Calibri"/>
              </a:rPr>
              <a:t>BEFORE  ·  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Rate: 10,000 req/sec — no throttle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06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2624328"/>
            <a:ext cx="5431536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Default API Gateway settings provided no protection. 50 concurrent requests crashed the Lambda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1908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1908" y="1801368"/>
            <a:ext cx="5687568" cy="64008"/>
          </a:xfrm>
          <a:prstGeom prst="rect">
            <a:avLst/>
          </a:prstGeom>
          <a:solidFill>
            <a:srgbClr val="008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5A"/>
                </a:solidFill>
                <a:latin typeface="Calibri"/>
              </a:rPr>
              <a:t>AFTER  ·  FIXED &amp;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429 Too Many Requests — Lambda protected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06_after_fix.png"/>
          <p:cNvPicPr>
            <a:picLocks noChangeAspect="1"/>
          </p:cNvPicPr>
          <p:nvPr/>
        </p:nvPicPr>
        <p:blipFill>
          <a:blip r:embed="rId3"/>
          <a:srcRect b="63392"/>
          <a:stretch>
            <a:fillRect/>
          </a:stretch>
        </p:blipFill>
        <p:spPr>
          <a:xfrm>
            <a:off x="6231636" y="2599290"/>
            <a:ext cx="5431536" cy="10042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1636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After fix: attack script now receives {"message":"Too Many Requests"}. Lambda is never invoked for excess traffic.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440"/>
                </a:solidFill>
                <a:latin typeface="Calibri"/>
              </a:rPr>
              <a:t>FIX  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63550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440"/>
                </a:solidFill>
                <a:latin typeface="Calibri"/>
              </a:rPr>
              <a:t>API Gateway → DVSA-APIS → Stages → dvsa → Edit Throttling: Rate = 10 req/sec, Burst = 20. No code change needed.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B6D2F2-B5CA-F78A-F6BC-9D5AFACC7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848" y="3633216"/>
            <a:ext cx="5243688" cy="17719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 Vulnerability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— cart modified while billing processes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08  ·  EXPLOIT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Cart modified during payment — race condition in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DVSA-ORDER-BILLING reads cart total without locking the order — a concurrent update request can change the cart mid-billing, so the customer pays for one quantity but receives another.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572768"/>
            <a:ext cx="40690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572768"/>
            <a:ext cx="4069080" cy="502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4068" y="1682496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2736"/>
                </a:solidFill>
                <a:latin typeface="Calibri"/>
              </a:rPr>
              <a:t>EXPLOITATION STEPS</a:t>
            </a:r>
          </a:p>
        </p:txBody>
      </p:sp>
      <p:sp>
        <p:nvSpPr>
          <p:cNvPr id="9" name="Oval 8"/>
          <p:cNvSpPr/>
          <p:nvPr/>
        </p:nvSpPr>
        <p:spPr>
          <a:xfrm>
            <a:off x="507492" y="1993392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" y="1993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" y="201168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Log into DVSA, add 1 item ($40) to cart, proceed to checkout but stop before payment. Copy order-id and JWT.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" y="2980944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" y="29809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" y="2999232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Prepare two curl commands: (1) billing action with credit card data, (2) update action changing itemList to 5 items.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" y="3968496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" y="39684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" y="3986784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Send both simultaneously using &amp; in Git Bash. The billing runs while the update modifies the cart mid-flight.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" y="4956048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" y="49560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" y="4974336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Observe: billing response shows amount:40 (charged for 1). DynamoDB shows itemList updated to 5 — race confirmed.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72768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Concurrent curl — billing charges $40 while update sets qty to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1810512"/>
            <a:ext cx="7269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08_before_exploit.png"/>
          <p:cNvPicPr>
            <a:picLocks noChangeAspect="1"/>
          </p:cNvPicPr>
          <p:nvPr/>
        </p:nvPicPr>
        <p:blipFill>
          <a:blip r:embed="rId2"/>
          <a:srcRect b="37730"/>
          <a:stretch>
            <a:fillRect/>
          </a:stretch>
        </p:blipFill>
        <p:spPr>
          <a:xfrm>
            <a:off x="4581144" y="1847088"/>
            <a:ext cx="7159752" cy="19293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26280" y="4005072"/>
            <a:ext cx="7269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Both requests fire simultaneously. Billing reads the old cart (1 item, $40) while the update wins and sets qty to 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79392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DynamoDB — highlighted row shows qty 5 charged at $40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517136"/>
            <a:ext cx="726948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3"/>
          <a:srcRect b="59391"/>
          <a:stretch>
            <a:fillRect/>
          </a:stretch>
        </p:blipFill>
        <p:spPr>
          <a:xfrm>
            <a:off x="4521708" y="4919472"/>
            <a:ext cx="7159752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08  ·  FIX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Atomic DynamoDB lock before billing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463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Add ConditionExpression to atomically set orderStatus = 200 before calculating cart total. Concurrent updates are rejected.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801368"/>
            <a:ext cx="5687568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492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3946"/>
                </a:solidFill>
                <a:latin typeface="Calibri"/>
              </a:rPr>
              <a:t>BEFORE  ·  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No lock — billing reads stale cart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08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2624328"/>
            <a:ext cx="5431536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 dirty="0">
                <a:solidFill>
                  <a:srgbClr val="5C6479"/>
                </a:solidFill>
                <a:latin typeface="Calibri"/>
              </a:rPr>
              <a:t>Without a lock, the billing function reads </a:t>
            </a:r>
            <a:r>
              <a:rPr sz="850" b="0" i="1" dirty="0" err="1">
                <a:solidFill>
                  <a:srgbClr val="5C6479"/>
                </a:solidFill>
                <a:latin typeface="Calibri"/>
              </a:rPr>
              <a:t>orderStatus</a:t>
            </a:r>
            <a:r>
              <a:rPr sz="850" b="0" i="1" dirty="0">
                <a:solidFill>
                  <a:srgbClr val="5C6479"/>
                </a:solidFill>
                <a:latin typeface="Calibri"/>
              </a:rPr>
              <a:t> &lt; 120 then processes. A concurrent update changes </a:t>
            </a:r>
            <a:r>
              <a:rPr sz="850" b="0" i="1" dirty="0" err="1">
                <a:solidFill>
                  <a:srgbClr val="5C6479"/>
                </a:solidFill>
                <a:latin typeface="Calibri"/>
              </a:rPr>
              <a:t>itemList</a:t>
            </a:r>
            <a:r>
              <a:rPr sz="850" b="0" i="1" dirty="0">
                <a:solidFill>
                  <a:srgbClr val="5C6479"/>
                </a:solidFill>
                <a:latin typeface="Calibri"/>
              </a:rPr>
              <a:t> between read and write.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1908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1908" y="1801368"/>
            <a:ext cx="5687568" cy="64008"/>
          </a:xfrm>
          <a:prstGeom prst="rect">
            <a:avLst/>
          </a:prstGeom>
          <a:solidFill>
            <a:srgbClr val="008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5A"/>
                </a:solidFill>
                <a:latin typeface="Calibri"/>
              </a:rPr>
              <a:t>AFTER  ·  FIXED &amp;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order already paid — race window closed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2606040"/>
            <a:ext cx="5468112" cy="3447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/>
              <a:t>ا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440"/>
                </a:solidFill>
                <a:latin typeface="Calibri"/>
              </a:rPr>
              <a:t>FIX  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63550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440"/>
                </a:solidFill>
                <a:latin typeface="Calibri"/>
              </a:rPr>
              <a:t>In order_billing.py: table.update_item(ConditionExpression='orderStatus = :currentstatus') sets status=200 atomically. Concurrent update returns 'order already being processed'.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AEAD9D1-46D0-B2C3-E390-51B5FC03B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299" y="2523744"/>
            <a:ext cx="3674029" cy="17835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890B8CA-10E9-CFF1-906B-F31C446E8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224" y="4389559"/>
            <a:ext cx="4570476" cy="14717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Unhandled Exceptions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 and file paths leaked to the attacker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10  ·  EXPLOIT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Malformed request leaks internal stack trace in HTTP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order_billing.py accesses event["billing"] with no validation and has no try/except — a malformed request triggers a KeyError that returns the raw Python stack trace to the attacker.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572768"/>
            <a:ext cx="40690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572768"/>
            <a:ext cx="4069080" cy="502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4068" y="1682496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2736"/>
                </a:solidFill>
                <a:latin typeface="Calibri"/>
              </a:rPr>
              <a:t>EXPLOITATION STEPS</a:t>
            </a:r>
          </a:p>
        </p:txBody>
      </p:sp>
      <p:sp>
        <p:nvSpPr>
          <p:cNvPr id="9" name="Oval 8"/>
          <p:cNvSpPr/>
          <p:nvPr/>
        </p:nvSpPr>
        <p:spPr>
          <a:xfrm>
            <a:off x="507492" y="1993392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" y="1993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" y="201168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Set up $API and $TOKEN variables in Git Bash. Use a placeholder order ID (RACE_ORDER='').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" y="2980944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" y="29809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" y="2999232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Send a billing request without the required billing key: action:billing with order-id only, no data field.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" y="3968496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" y="39684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" y="3986784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Observe the raw JSON response — it contains errorType, errorMessage, and full stackTrace from the Lambda runtime.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" y="4956048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" y="49560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" y="4974336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Extract leaked data: file path /var/task/order_billing.py, line 103, KeyError on 'billing', source code snippet.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72768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HTTP response — raw Python stack trace exposed to attacker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1810512"/>
            <a:ext cx="7269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10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847088"/>
            <a:ext cx="7159752" cy="20756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26280" y="4005072"/>
            <a:ext cx="7269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Response body contains: internal file path, exact line number, source code snippet, exception type, and missing key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79392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Leaked fields table — five internal details revealed per request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517136"/>
            <a:ext cx="726948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3"/>
          <a:srcRect b="19317"/>
          <a:stretch>
            <a:fillRect/>
          </a:stretch>
        </p:blipFill>
        <p:spPr>
          <a:xfrm>
            <a:off x="4581144" y="4553712"/>
            <a:ext cx="7159752" cy="14533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10  ·  FIX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Validate all inputs before access — catch all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463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Add three guard checks at handler entry: verify orderId, user, billing key, and required sub-fields exist before any field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801368"/>
            <a:ext cx="5687568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492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3946"/>
                </a:solidFill>
                <a:latin typeface="Calibri"/>
              </a:rPr>
              <a:t>BEFORE  ·  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KeyError propagates — stack trace returned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No try/except and no input validation. Missing key raises Python KeyError that Lambda runtime returns verbatim as HTTP response.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1908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1908" y="1801368"/>
            <a:ext cx="5687568" cy="64008"/>
          </a:xfrm>
          <a:prstGeom prst="rect">
            <a:avLst/>
          </a:prstGeom>
          <a:solidFill>
            <a:srgbClr val="008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5A"/>
                </a:solidFill>
                <a:latin typeface="Calibri"/>
              </a:rPr>
              <a:t>AFTER  ·  FIXED &amp;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Generic error — no internals exposed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10_after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924" y="2624328"/>
            <a:ext cx="5431536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1636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After fix: same malformed request returns {"status":"err","msg":"invalid request"}. No file path, no line number, no stack trace.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440"/>
                </a:solidFill>
                <a:latin typeface="Calibri"/>
              </a:rPr>
              <a:t>FIX  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63550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440"/>
                </a:solidFill>
                <a:latin typeface="Calibri"/>
              </a:rPr>
              <a:t>In order_billing.py: check orderId/user exist, check 'billing' key exists, check ccn/exp/cvv present. Any failure → return generic 'invalid request'. Wrap in try/except.</a:t>
            </a:r>
          </a:p>
        </p:txBody>
      </p:sp>
      <p:pic>
        <p:nvPicPr>
          <p:cNvPr id="26" name="Picture 25" descr="image.jpg">
            <a:extLst>
              <a:ext uri="{FF2B5EF4-FFF2-40B4-BE49-F238E27FC236}">
                <a16:creationId xmlns:a16="http://schemas.microsoft.com/office/drawing/2014/main" id="{090CE9D0-1161-E761-8DCA-5B525E55BF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32" r="10515" b="19317"/>
          <a:stretch>
            <a:fillRect/>
          </a:stretch>
        </p:blipFill>
        <p:spPr>
          <a:xfrm>
            <a:off x="342900" y="2971800"/>
            <a:ext cx="5577840" cy="14533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Access Control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— modifying another user's order without ownership check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11  ·  EXPLOIT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User A modifies User B's order without owning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admin_update_orders.py updates any order by order-id without checking that the order belongs to the caller — IDOR allows cross-user data manipulation.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572768"/>
            <a:ext cx="40690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572768"/>
            <a:ext cx="4069080" cy="502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4068" y="1682496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2736"/>
                </a:solidFill>
                <a:latin typeface="Calibri"/>
              </a:rPr>
              <a:t>EXPLOITATION STEPS</a:t>
            </a:r>
          </a:p>
        </p:txBody>
      </p:sp>
      <p:sp>
        <p:nvSpPr>
          <p:cNvPr id="9" name="Oval 8"/>
          <p:cNvSpPr/>
          <p:nvPr/>
        </p:nvSpPr>
        <p:spPr>
          <a:xfrm>
            <a:off x="507492" y="1993392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" y="1993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" y="201168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Create two users: User A (attacker) and User B (victim). Both place orders in DVSA.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" y="2980944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" y="29809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" y="2999232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As User B, proceed to checkout. In DevTools Network tab, copy the order-id from the shipping request body.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" y="3968496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" y="39684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" y="3986784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Log in as User A. Extract User A's JWT from the Authorization header in DevTools.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" y="4956048"/>
            <a:ext cx="292608" cy="29260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" y="49560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" y="4974336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440"/>
                </a:solidFill>
                <a:latin typeface="Calibri"/>
              </a:rPr>
              <a:t>Send update request using User A's JWT but User B's order-id. Response: 'cart updated' — exploit confirmed.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72768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curl — User A's JWT + User B's order-id → cart updated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1810512"/>
            <a:ext cx="7269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11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847088"/>
            <a:ext cx="7159752" cy="20756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26280" y="4005072"/>
            <a:ext cx="7269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User A sends action:update with User B's order-id. The server accepts it without any ownership check.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79392"/>
            <a:ext cx="7269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6479"/>
                </a:solidFill>
                <a:latin typeface="Calibri"/>
              </a:rPr>
              <a:t>DynamoDB — User B's order modified by User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517136"/>
            <a:ext cx="726948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4553712"/>
            <a:ext cx="7159752" cy="18013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900" y="2651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LESSON 11  ·  FIX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3D"/>
                </a:solidFill>
                <a:latin typeface="Georgia"/>
              </a:rPr>
              <a:t>Verify order ownership before processing any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463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C6479"/>
                </a:solidFill>
                <a:latin typeface="Calibri"/>
              </a:rPr>
              <a:t>Add a get_item check in admin_update_orders.py. If order.userId ≠ authenticated user, reject immediately with 'unauthorized'.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" y="1801368"/>
            <a:ext cx="5687568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492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3946"/>
                </a:solidFill>
                <a:latin typeface="Calibri"/>
              </a:rPr>
              <a:t>BEFORE  ·  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No ownership check — any order-id accepted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11_bef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2624328"/>
            <a:ext cx="5431536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Vulnerable: updateItem wrote directly using the request body's order-id without verifying the caller owned that order.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1908" y="1801368"/>
            <a:ext cx="5687568" cy="4407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1908" y="1801368"/>
            <a:ext cx="5687568" cy="64008"/>
          </a:xfrm>
          <a:prstGeom prst="rect">
            <a:avLst/>
          </a:prstGeom>
          <a:solidFill>
            <a:srgbClr val="008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911096"/>
            <a:ext cx="5413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5A"/>
                </a:solidFill>
                <a:latin typeface="Calibri"/>
              </a:rPr>
              <a:t>AFTER  ·  FIXED &amp;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18541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440"/>
                </a:solidFill>
                <a:latin typeface="Georgia"/>
              </a:rPr>
              <a:t>unauthorized — cross-user write blocked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2606040"/>
            <a:ext cx="5468112" cy="2788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11_after_fix.png"/>
          <p:cNvPicPr>
            <a:picLocks noChangeAspect="1"/>
          </p:cNvPicPr>
          <p:nvPr/>
        </p:nvPicPr>
        <p:blipFill>
          <a:blip r:embed="rId3"/>
          <a:srcRect b="78038"/>
          <a:stretch>
            <a:fillRect/>
          </a:stretch>
        </p:blipFill>
        <p:spPr>
          <a:xfrm>
            <a:off x="6249924" y="2624328"/>
            <a:ext cx="5431536" cy="57127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1636" y="5504688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C6479"/>
                </a:solidFill>
                <a:latin typeface="Calibri"/>
              </a:rPr>
              <a:t>After fix: same curl request with User B's order-id returns {"status":"err","msg":"unauthorized"}. Order is unchanged.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" y="6355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440"/>
                </a:solidFill>
                <a:latin typeface="Calibri"/>
              </a:rPr>
              <a:t>FIX  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63550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440"/>
                </a:solidFill>
                <a:latin typeface="Calibri"/>
              </a:rPr>
              <a:t>In admin_update_orders.py → updateItem(): call table.get_item(Key) first. If check['Item']['userId'] != user: return {status:err, msg:unauthorized}.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D6F0C74-3957-4DD1-84F7-7D14265C4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37" y="3213894"/>
            <a:ext cx="5431536" cy="291693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54864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Fajer Alyami  ·  Afrah Alsubhi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ICS344  ·  DVSA Serverless Security  ·  Lessons 1–11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</TotalTime>
  <Words>3739</Words>
  <Application>Microsoft Office PowerPoint</Application>
  <PresentationFormat>Widescreen</PresentationFormat>
  <Paragraphs>404</Paragraphs>
  <Slides>37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DVSA Serverless Security</dc:title>
  <dc:subject>PptxGenJS Presentation</dc:subject>
  <dc:creator>Fajer Alyami</dc:creator>
  <cp:lastModifiedBy>Fajer Alyami</cp:lastModifiedBy>
  <cp:revision>5</cp:revision>
  <dcterms:created xsi:type="dcterms:W3CDTF">2026-05-03T01:13:13Z</dcterms:created>
  <dcterms:modified xsi:type="dcterms:W3CDTF">2026-05-04T16:19:35Z</dcterms:modified>
</cp:coreProperties>
</file>